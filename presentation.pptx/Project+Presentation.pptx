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8"/>
  </p:notesMasterIdLst>
  <p:sldIdLst>
    <p:sldId id="256" r:id="rId2"/>
    <p:sldId id="257" r:id="rId3"/>
    <p:sldId id="271" r:id="rId4"/>
    <p:sldId id="305" r:id="rId5"/>
    <p:sldId id="261" r:id="rId6"/>
    <p:sldId id="306" r:id="rId7"/>
    <p:sldId id="275" r:id="rId8"/>
    <p:sldId id="307" r:id="rId9"/>
    <p:sldId id="308" r:id="rId10"/>
    <p:sldId id="313" r:id="rId11"/>
    <p:sldId id="309" r:id="rId12"/>
    <p:sldId id="310" r:id="rId13"/>
    <p:sldId id="314" r:id="rId14"/>
    <p:sldId id="311" r:id="rId15"/>
    <p:sldId id="312" r:id="rId16"/>
    <p:sldId id="266" r:id="rId17"/>
  </p:sldIdLst>
  <p:sldSz cx="9144000" cy="5143500" type="screen16x9"/>
  <p:notesSz cx="6858000" cy="9144000"/>
  <p:embeddedFontLst>
    <p:embeddedFont>
      <p:font typeface="Figtree Black"/>
      <p:bold r:id="rId19"/>
      <p:boldItalic r:id="rId20"/>
    </p:embeddedFont>
    <p:embeddedFont>
      <p:font typeface="Hanken Grotesk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4E0992-0092-4886-99D1-E3F46E52A5E5}">
  <a:tblStyle styleId="{AE4E0992-0092-4886-99D1-E3F46E52A5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090" y="-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CADCE988-FE75-9586-842D-A862E0120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5A4F1208-800B-167E-5DC2-08F2F67EB4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10A68AA9-9584-3D76-F0A4-FE4123CBE2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5060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F80F4372-38B8-84F4-7BFA-DACDBEE4B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EDC172B0-8679-827D-6B66-B3E84D1937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81B1C3F4-254B-283A-2A4A-7D80B8E9F8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7019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340135a08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340135a08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7208FBBB-41F2-2BA1-D6E8-072D698D3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297C5F78-AF92-C27E-99ED-504B24CCA7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D6E5A9E6-BBB5-7218-8C18-8A44628924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61097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4281E36F-39E6-C2D7-48E1-8616D4D4D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3F03313D-B847-73E6-F4EC-1E200BA8B7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12FCAB3A-F3AF-A82D-DB00-418FA2CF94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1181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514C0008-E8E1-6B5E-93A8-4A9F492E4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44C9E483-988A-31ED-B39D-3797E0835A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DE474B65-C16C-A0BA-6C88-4C333CA383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6170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8D5866BF-E098-1381-A11B-D315D7281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45198D17-C327-857E-2C17-00230DD422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0876BEF1-5493-5D4C-6846-E1E2FECF9D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35774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F27E81FD-6B69-5817-4870-32820F5E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34685DD4-8356-2EEE-9321-8CE3DB1122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A3F8CE5E-DD81-ECE1-89A9-657722D329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156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9DA60DF6-AE37-60BB-5D65-0A5FC641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D9E3A555-611E-821E-7502-C2E0D4037A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85FD6D36-0532-88CB-1887-075457EA4C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7214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935EF5BC-3BBA-79E7-21DB-A79C4B5CD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C1DA20F6-AD86-551E-74E2-CB7764F8A7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5F442A52-988B-0173-6300-79CA718C7A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24023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161ca7da6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161ca7da6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5"/>
          <p:cNvGrpSpPr/>
          <p:nvPr/>
        </p:nvGrpSpPr>
        <p:grpSpPr>
          <a:xfrm>
            <a:off x="-77100" y="232800"/>
            <a:ext cx="8988300" cy="4964300"/>
            <a:chOff x="-77100" y="232800"/>
            <a:chExt cx="8988300" cy="4964300"/>
          </a:xfrm>
        </p:grpSpPr>
        <p:sp>
          <p:nvSpPr>
            <p:cNvPr id="36" name="Google Shape;36;p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7" name="Google Shape;37;p5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8;p5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1"/>
          </p:nvPr>
        </p:nvSpPr>
        <p:spPr>
          <a:xfrm>
            <a:off x="4651268" y="1736553"/>
            <a:ext cx="37728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2"/>
          </p:nvPr>
        </p:nvSpPr>
        <p:spPr>
          <a:xfrm>
            <a:off x="720000" y="1736553"/>
            <a:ext cx="37728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3"/>
          </p:nvPr>
        </p:nvSpPr>
        <p:spPr>
          <a:xfrm>
            <a:off x="720000" y="1451250"/>
            <a:ext cx="37728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4"/>
          </p:nvPr>
        </p:nvSpPr>
        <p:spPr>
          <a:xfrm>
            <a:off x="4651268" y="1451250"/>
            <a:ext cx="37728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8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64" name="Google Shape;64;p8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65" name="Google Shape;65;p8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8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14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116" name="Google Shape;116;p14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7" name="Google Shape;117;p14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9" name="Google Shape;119;p14"/>
          <p:cNvSpPr txBox="1">
            <a:spLocks noGrp="1"/>
          </p:cNvSpPr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subTitle" idx="1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8" r:id="rId7"/>
    <p:sldLayoutId id="2147483660" r:id="rId8"/>
    <p:sldLayoutId id="2147483674" r:id="rId9"/>
    <p:sldLayoutId id="2147483675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csmalarkodi/covid-fake-news-datase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087124" y="1670213"/>
            <a:ext cx="6098535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Fake News Detection Using Machine Learning Algorithms</a:t>
            </a:r>
            <a:endParaRPr dirty="0"/>
          </a:p>
        </p:txBody>
      </p:sp>
      <p:sp>
        <p:nvSpPr>
          <p:cNvPr id="290" name="Google Shape;290;p33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Hanken Grotesk"/>
                <a:ea typeface="Hanken Grotesk"/>
                <a:cs typeface="Hanken Grotesk"/>
                <a:sym typeface="Hanken Grotesk"/>
              </a:rPr>
              <a:t>Project Presentation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Group-12</a:t>
            </a:r>
            <a:endParaRPr dirty="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 Member</a:t>
            </a:r>
            <a:endParaRPr dirty="0"/>
          </a:p>
        </p:txBody>
      </p:sp>
      <p:graphicFrame>
        <p:nvGraphicFramePr>
          <p:cNvPr id="299" name="Google Shape;299;p34"/>
          <p:cNvGraphicFramePr/>
          <p:nvPr>
            <p:extLst>
              <p:ext uri="{D42A27DB-BD31-4B8C-83A1-F6EECF244321}">
                <p14:modId xmlns:p14="http://schemas.microsoft.com/office/powerpoint/2010/main" val="223692412"/>
              </p:ext>
            </p:extLst>
          </p:nvPr>
        </p:nvGraphicFramePr>
        <p:xfrm>
          <a:off x="726775" y="1536810"/>
          <a:ext cx="7704000" cy="2749085"/>
        </p:xfrm>
        <a:graphic>
          <a:graphicData uri="http://schemas.openxmlformats.org/drawingml/2006/table">
            <a:tbl>
              <a:tblPr>
                <a:noFill/>
                <a:tableStyleId>{AE4E0992-0092-4886-99D1-E3F46E52A5E5}</a:tableStyleId>
              </a:tblPr>
              <a:tblGrid>
                <a:gridCol w="234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dirty="0">
                          <a:solidFill>
                            <a:schemeClr val="dk1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Student ID</a:t>
                      </a:r>
                      <a:endParaRPr sz="1400" b="1" u="none" dirty="0">
                        <a:solidFill>
                          <a:schemeClr val="dk1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400" b="1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Student Name</a:t>
                      </a:r>
                      <a:endParaRPr sz="1400" b="1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sng" dirty="0">
                          <a:solidFill>
                            <a:schemeClr val="dk1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11724307</a:t>
                      </a:r>
                      <a:endParaRPr sz="1400" u="sng" dirty="0">
                        <a:solidFill>
                          <a:schemeClr val="dk1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Himabindu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Chunduri</a:t>
                      </a:r>
                      <a:endParaRPr sz="14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sng" dirty="0">
                          <a:solidFill>
                            <a:schemeClr val="dk1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11656632</a:t>
                      </a:r>
                      <a:endParaRPr sz="1400" u="sng" dirty="0">
                        <a:solidFill>
                          <a:schemeClr val="dk1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Vijayalakshmi </a:t>
                      </a: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Pepala</a:t>
                      </a:r>
                      <a:endParaRPr sz="14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sng" dirty="0">
                          <a:solidFill>
                            <a:schemeClr val="dk1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11696413</a:t>
                      </a:r>
                      <a:endParaRPr sz="1400" u="sng" dirty="0">
                        <a:solidFill>
                          <a:schemeClr val="dk1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Jaswanth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 Nalluri</a:t>
                      </a:r>
                      <a:endParaRPr sz="14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sng" dirty="0">
                          <a:solidFill>
                            <a:schemeClr val="dk1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11700315</a:t>
                      </a:r>
                      <a:endParaRPr sz="1400" u="sng" dirty="0">
                        <a:solidFill>
                          <a:schemeClr val="dk1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Sandeep Chowdary Ari</a:t>
                      </a:r>
                      <a:endParaRPr sz="14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596" name="Google Shape;596;p48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The proliferation of misinformation in social media has created an urgent need for automated fake news detection systems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Recent studies indicate that false information spreads six times faster than factual news on social platforms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Machine learning approaches offer promising solutions for identifying and filtering misleading content in real-time scenarios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Natural Language Processing techniques combined with deep learning models provide powerful tools for content authenticity verification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The impact of fake news on public opinion and decision-making necessitates development of robust detection systems</a:t>
            </a: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61B2CED2-F8A4-2121-CF0A-CCD1818BB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31E18ADB-8226-11F4-29C5-6F70DA1F62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(Cont.)</a:t>
            </a:r>
            <a:endParaRPr dirty="0"/>
          </a:p>
        </p:txBody>
      </p:sp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CD02F559-827F-6757-A393-D32B162094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The COVID-19 pandemic highlighted the critical importance of combating health-related misinformation in social media platforms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Our project leverages state-of-the-art machine learning algorithms to classify news content with high precision and recall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Integration of multiple feature extraction techniques ensures comprehensive analysis of textual content for accurate classification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The system utilizes both statistical and semantic features to capture various aspects of fake news patterns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Implementation of cross-validation and hyperparameter optimization ensures robust and generalizable model performance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242101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8"/>
          <p:cNvSpPr txBox="1">
            <a:spLocks noGrp="1"/>
          </p:cNvSpPr>
          <p:nvPr>
            <p:ph type="subTitle" idx="1"/>
          </p:nvPr>
        </p:nvSpPr>
        <p:spPr>
          <a:xfrm>
            <a:off x="2212125" y="838350"/>
            <a:ext cx="5913900" cy="23880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Problem</a:t>
            </a:r>
            <a:r>
              <a:rPr lang="en-US" sz="1800" dirty="0"/>
              <a:t>: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The rapid spread of fake news on social media poses significant risks to public information integrity.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Expected Solution: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An automated multi-modal system that accurately identifies fake news content, with high accuracy.</a:t>
            </a:r>
          </a:p>
        </p:txBody>
      </p:sp>
      <p:sp>
        <p:nvSpPr>
          <p:cNvPr id="375" name="Google Shape;375;p38"/>
          <p:cNvSpPr txBox="1">
            <a:spLocks noGrp="1"/>
          </p:cNvSpPr>
          <p:nvPr>
            <p:ph type="title"/>
          </p:nvPr>
        </p:nvSpPr>
        <p:spPr>
          <a:xfrm>
            <a:off x="2212125" y="3327202"/>
            <a:ext cx="5913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—Problem Statement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2AE3F053-8B6F-2265-7304-B7D8E8C9D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6151E42B-B61A-5097-92CF-93ED55441F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Methodology - Proposed Solutions</a:t>
            </a:r>
          </a:p>
        </p:txBody>
      </p:sp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7646C311-A358-A597-65A8-9B22D6EA55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Comprehensive text preprocessing including URL removal, special character handling, and lemmatization for improved feature quality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Multi-feature extraction approach combining TF-IDF (5000 features), statistical metrics (5), and Word2Vec embeddings (100 dimensions)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Implementation of multiple classification models: Logistic Regression, Linear SVC, Passive Aggressive, and Decision Tree classifiers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Hyperparameter optimization using </a:t>
            </a:r>
            <a:r>
              <a:rPr lang="en-US" sz="1800" dirty="0" err="1"/>
              <a:t>GridSearchCV</a:t>
            </a:r>
            <a:r>
              <a:rPr lang="en-US" sz="1800" dirty="0"/>
              <a:t> with 5-fold cross-validation for each model to ensure optimal performance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Feature importance analysis for model interpretability and understanding key indicators of fake news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822309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Methodology - Workflow</a:t>
            </a:r>
            <a:endParaRPr dirty="0"/>
          </a:p>
        </p:txBody>
      </p:sp>
      <p:sp>
        <p:nvSpPr>
          <p:cNvPr id="647" name="Google Shape;647;p52"/>
          <p:cNvSpPr txBox="1">
            <a:spLocks noGrp="1"/>
          </p:cNvSpPr>
          <p:nvPr>
            <p:ph type="subTitle" idx="2"/>
          </p:nvPr>
        </p:nvSpPr>
        <p:spPr>
          <a:xfrm>
            <a:off x="720000" y="1017725"/>
            <a:ext cx="5740074" cy="34551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7175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sz="1600" dirty="0"/>
              <a:t>Data preprocessing pipeline: </a:t>
            </a:r>
          </a:p>
          <a:p>
            <a:pPr marL="257175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dirty="0"/>
              <a:t>cleaning → tokenization → stop word removal → lemmatization → feature extraction</a:t>
            </a:r>
          </a:p>
          <a:p>
            <a:pPr marL="257175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sz="1600" dirty="0"/>
              <a:t>Feature engineering workflow: </a:t>
            </a:r>
          </a:p>
          <a:p>
            <a:pPr marL="257175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dirty="0"/>
              <a:t>TF-IDF vectorization → statistical feature extraction → Word2Vec embedding generation</a:t>
            </a:r>
          </a:p>
          <a:p>
            <a:pPr marL="257175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sz="1600" dirty="0"/>
              <a:t>Model development process:</a:t>
            </a:r>
          </a:p>
          <a:p>
            <a:pPr marL="257175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dirty="0"/>
              <a:t>training → cross-validation → hyperparameter optimization → model selection</a:t>
            </a:r>
          </a:p>
          <a:p>
            <a:pPr marL="257175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sz="1600" dirty="0"/>
              <a:t>Implementation of k-fold cross-validation (k=5) to ensure robust model evaluation and prevent overfitting</a:t>
            </a:r>
          </a:p>
          <a:p>
            <a:pPr marL="257175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Char char="●"/>
            </a:pPr>
            <a:r>
              <a:rPr lang="en-US" sz="1600" dirty="0"/>
              <a:t>Final model selection based on validation accuracy and generalization performance across different metrics</a:t>
            </a:r>
            <a:endParaRPr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25CFD7-AE51-147F-A41F-629B66B77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232" y="513347"/>
            <a:ext cx="2342147" cy="41851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D77AA3E2-18C0-E726-356C-423C5E3F2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929D0B12-5C91-1A1E-C4AA-528D541AA2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Dataset Description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F2A4AE-8F88-1199-CEE2-58DAD2896D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352740"/>
              </p:ext>
            </p:extLst>
          </p:nvPr>
        </p:nvGraphicFramePr>
        <p:xfrm>
          <a:off x="720000" y="1215960"/>
          <a:ext cx="7718424" cy="316351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859212">
                  <a:extLst>
                    <a:ext uri="{9D8B030D-6E8A-4147-A177-3AD203B41FA5}">
                      <a16:colId xmlns:a16="http://schemas.microsoft.com/office/drawing/2014/main" val="2513762498"/>
                    </a:ext>
                  </a:extLst>
                </a:gridCol>
                <a:gridCol w="3859212">
                  <a:extLst>
                    <a:ext uri="{9D8B030D-6E8A-4147-A177-3AD203B41FA5}">
                      <a16:colId xmlns:a16="http://schemas.microsoft.com/office/drawing/2014/main" val="129520026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400" b="1" dirty="0">
                          <a:effectLst/>
                        </a:rPr>
                        <a:t>Characteristic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400" b="1" dirty="0">
                          <a:effectLst/>
                        </a:rPr>
                        <a:t>Description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424227499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400" dirty="0">
                          <a:effectLst/>
                        </a:rPr>
                        <a:t>Dataset Size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400">
                          <a:effectLst/>
                        </a:rPr>
                        <a:t>Training: 6420, Validation: 2140, Test: 2140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51911487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400">
                          <a:effectLst/>
                        </a:rPr>
                        <a:t>Features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400">
                          <a:effectLst/>
                        </a:rPr>
                        <a:t>TF-IDF: 5000, Statistical: 5, Word2Vec: 100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5200965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400">
                          <a:effectLst/>
                        </a:rPr>
                        <a:t>Class Distribution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400">
                          <a:effectLst/>
                        </a:rPr>
                        <a:t>Real: 52.34%, Fake: 47.66%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95051458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400" dirty="0">
                          <a:effectLst/>
                        </a:rPr>
                        <a:t>Text Length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400">
                          <a:effectLst/>
                        </a:rPr>
                        <a:t>Mean: 181.61, Median: 169.0, Std: 150.55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92526599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400" dirty="0">
                          <a:effectLst/>
                        </a:rPr>
                        <a:t>Word Count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400" dirty="0">
                          <a:effectLst/>
                        </a:rPr>
                        <a:t>Mean: 27.0, Median: 25.0, Std: 24.58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764672664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1400" b="1" dirty="0">
                          <a:effectLst/>
                        </a:rPr>
                        <a:t>Dataset Link: 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https://www.kaggle.com/datasets/csmalarkodi/covid-fake-news-dataset</a:t>
                      </a:r>
                      <a:endParaRPr lang="en-US" sz="1400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99060" marR="99060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endParaRPr lang="en-US" sz="140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329177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4694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9B49D9D1-2BF8-555B-E2E9-8E55008A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97C993FA-5CCD-1D2A-7C88-97D7151A9E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Analysis Results</a:t>
            </a:r>
          </a:p>
        </p:txBody>
      </p:sp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E293D08D-04C6-30E8-259D-D06C4DD30F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Word distribution analysis reveals significant differences in vocabulary usage between fake and real news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Statistical analysis shows fake news tends to have shorter text length (mean: 144.89) compared to real news (mean: 215.06)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Top bigrams analysis identifies distinct phrase patterns: "covid 19" appears 1018 times in fake vs 711 in real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Feature importance analysis highlights key discriminative words and phrases for classification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Visualization of Word2Vec embeddings shows clear clustering patterns between fake and real news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4324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D394B428-F2F3-EF89-BE11-ECADF2226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8E79D99F-CD1A-CFB8-0103-E172BD7B8E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Analysis Results - Visualization</a:t>
            </a:r>
          </a:p>
        </p:txBody>
      </p:sp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A0129201-EAF0-8ACD-3C71-332DAB5E0E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dirty="0"/>
              <a:t>Other than Covid19, the most common words in Fake News included words like </a:t>
            </a:r>
            <a:r>
              <a:rPr lang="en-US" sz="1800" dirty="0" err="1"/>
              <a:t>india</a:t>
            </a:r>
            <a:r>
              <a:rPr lang="en-US" sz="1800" dirty="0"/>
              <a:t>, new, hospital, vaccine, say, coronavirus etc. For the Real News, they included state, death, people, today, case among others.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A2610C37-0B19-06D1-BCC8-B102DC97F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2344096"/>
            <a:ext cx="7702276" cy="2104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4021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3724EA06-B4E9-E81D-EC1E-594454A03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EC5BFBC3-EDFE-A933-A800-FCD0EC5D7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Implementation Details</a:t>
            </a:r>
          </a:p>
        </p:txBody>
      </p:sp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5C60964D-AB8C-342D-4E80-BE6AE29628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Libraries: scikit-learn, NLTK, </a:t>
            </a:r>
            <a:r>
              <a:rPr lang="en-US" sz="1800" dirty="0" err="1"/>
              <a:t>Gensim</a:t>
            </a:r>
            <a:r>
              <a:rPr lang="en-US" sz="1800" dirty="0"/>
              <a:t>, pandas, </a:t>
            </a:r>
            <a:r>
              <a:rPr lang="en-US" sz="1800" dirty="0" err="1"/>
              <a:t>numpy</a:t>
            </a:r>
            <a:r>
              <a:rPr lang="en-US" sz="1800" dirty="0"/>
              <a:t> for comprehensive machine learning pipeline implementation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TF-IDF Vectorization: </a:t>
            </a:r>
            <a:r>
              <a:rPr lang="en-US" sz="1800" dirty="0" err="1"/>
              <a:t>max_features</a:t>
            </a:r>
            <a:r>
              <a:rPr lang="en-US" sz="1800" dirty="0"/>
              <a:t>=5000, handling sparse matrix for efficient computation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Word2Vec Configuration: </a:t>
            </a:r>
            <a:r>
              <a:rPr lang="en-US" sz="1800" dirty="0" err="1"/>
              <a:t>vector_size</a:t>
            </a:r>
            <a:r>
              <a:rPr lang="en-US" sz="1800" dirty="0"/>
              <a:t>=100, window=5, </a:t>
            </a:r>
            <a:r>
              <a:rPr lang="en-US" sz="1800" dirty="0" err="1"/>
              <a:t>min_count</a:t>
            </a:r>
            <a:r>
              <a:rPr lang="en-US" sz="1800" dirty="0"/>
              <a:t>=1, workers=4 for optimal embedding generation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 err="1"/>
              <a:t>GridSearchCV</a:t>
            </a:r>
            <a:r>
              <a:rPr lang="en-US" sz="1800" dirty="0"/>
              <a:t> parameters: {'C': [0.1, 1, 10], 'loss': ['hinge', '</a:t>
            </a:r>
            <a:r>
              <a:rPr lang="en-US" sz="1800" dirty="0" err="1"/>
              <a:t>squared_hinge</a:t>
            </a:r>
            <a:r>
              <a:rPr lang="en-US" sz="1800" dirty="0"/>
              <a:t>']} for SVM optimization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Model Architecture: Linear SVC with </a:t>
            </a:r>
            <a:r>
              <a:rPr lang="en-US" sz="1800" dirty="0" err="1"/>
              <a:t>squared_hinge</a:t>
            </a:r>
            <a:r>
              <a:rPr lang="en-US" sz="1800" dirty="0"/>
              <a:t> loss and L2 regularization (C=1) achieved best performance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904279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042BBDB8-FE2D-409A-4075-378F9FF71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A1B046EF-F756-E4A5-C033-2B8241F08A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 and Evaluation</a:t>
            </a:r>
          </a:p>
        </p:txBody>
      </p:sp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FF108362-6B36-1F34-5BE7-4B3BB6A67A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Precision-Recall curves demonstrate robust model performance across different operating thresholds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Confusion matrix analysis shows balanced performance for both fake and real news classification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F1-Score: Training (0.988), Validation (0.987), Test (0.930) indicating consistent model performance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Error analysis reveals common misclassification patterns in health-related and statistical news content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Cross-validation scores demonstrate model stability with low variance across different data splits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864908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42561-A3D5-9BD6-7F8D-B8032956A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Evaluation -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81A6FB-1BEA-926B-BBCD-8C2A487D2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5746" y="1302053"/>
            <a:ext cx="3428322" cy="3170800"/>
          </a:xfrm>
        </p:spPr>
        <p:txBody>
          <a:bodyPr anchor="ctr"/>
          <a:lstStyle/>
          <a:p>
            <a:pPr marL="139700" indent="0">
              <a:buNone/>
            </a:pPr>
            <a:r>
              <a:rPr lang="en-US" sz="1800" dirty="0"/>
              <a:t>From the visualization, it is evident that Linear SVC and Logistic Regression were the better performing models followed by Decision Tree Classifier and lastly Passive Aggressive Classifier.</a:t>
            </a:r>
          </a:p>
          <a:p>
            <a:pPr marL="139700" indent="0">
              <a:buNone/>
            </a:pPr>
            <a:r>
              <a:rPr lang="en-US" sz="1800" dirty="0"/>
              <a:t>Best performing model turned out to be </a:t>
            </a:r>
            <a:r>
              <a:rPr lang="en-US" sz="1800" b="1" dirty="0"/>
              <a:t>Linear SVC</a:t>
            </a:r>
            <a:r>
              <a:rPr lang="en-US" sz="1800" dirty="0"/>
              <a:t>, with an accuracy of </a:t>
            </a:r>
            <a:r>
              <a:rPr lang="en-US" sz="1800" b="1" dirty="0"/>
              <a:t>0.9271</a:t>
            </a:r>
            <a:r>
              <a:rPr lang="en-US" sz="1800" dirty="0"/>
              <a:t> (~93%)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1B101B0-99A6-6AFE-C308-E7DD2D5E2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33" y="1302053"/>
            <a:ext cx="4196250" cy="317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6251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D9378D66-8068-0630-1FAC-FC8C89CE7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6642971F-924F-4670-2D6C-C96BEED447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Project Management</a:t>
            </a:r>
          </a:p>
        </p:txBody>
      </p:sp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B6EAB6B6-164F-51B9-2466-8C87116E27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1263" y="1074821"/>
            <a:ext cx="7942737" cy="36236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500" b="1" dirty="0"/>
              <a:t>Sprint Planning and Execution (Two-Week Cycles): </a:t>
            </a:r>
            <a:r>
              <a:rPr lang="en-US" sz="1500" b="1" dirty="0" err="1"/>
              <a:t>Jaswanth</a:t>
            </a:r>
            <a:r>
              <a:rPr lang="en-US" sz="1500" b="1" dirty="0"/>
              <a:t> Nalluri.</a:t>
            </a:r>
          </a:p>
          <a:p>
            <a:pPr marL="882650" lvl="1" indent="-285750">
              <a:buSzPts val="1400"/>
              <a:buFont typeface="Wingdings" panose="05000000000000000000" pitchFamily="2" charset="2"/>
              <a:buChar char="Ø"/>
            </a:pPr>
            <a:r>
              <a:rPr lang="en-US" sz="1500" dirty="0"/>
              <a:t>Tasks include defining features and goals, breaking down features into tasks, prioritizing 	them, conducting daily standups, and leading sprint reviews and retrospectives.</a:t>
            </a:r>
          </a:p>
          <a:p>
            <a:pPr marL="425450" indent="-285750">
              <a:buSzPts val="1400"/>
            </a:pPr>
            <a:r>
              <a:rPr lang="en-US" sz="1500" b="1" dirty="0"/>
              <a:t>Regular Code Reviews and Documentation : Sandeep Chowdary Ari.</a:t>
            </a:r>
          </a:p>
          <a:p>
            <a:pPr marL="882650" lvl="1" indent="-285750">
              <a:buSzPts val="1400"/>
              <a:buFont typeface="Wingdings" panose="05000000000000000000" pitchFamily="2" charset="2"/>
              <a:buChar char="Ø"/>
            </a:pPr>
            <a:r>
              <a:rPr lang="en-US" sz="1500" dirty="0"/>
              <a:t>Tasks include organizing code review schedules, updating documentation for new features, 	ensuring coding standards, and maintaining documentation structure.</a:t>
            </a:r>
          </a:p>
          <a:p>
            <a:pPr marL="425450" indent="-285750">
              <a:buSzPts val="1400"/>
            </a:pPr>
            <a:r>
              <a:rPr lang="en-US" sz="1500" b="1" dirty="0"/>
              <a:t>Version Control (Git) Integration: </a:t>
            </a:r>
            <a:r>
              <a:rPr lang="en-US" sz="1500" b="1" dirty="0" err="1"/>
              <a:t>Himabindu</a:t>
            </a:r>
            <a:r>
              <a:rPr lang="en-US" sz="1500" b="1" dirty="0"/>
              <a:t> </a:t>
            </a:r>
            <a:r>
              <a:rPr lang="en-US" sz="1500" b="1" dirty="0" err="1"/>
              <a:t>Chunduri</a:t>
            </a:r>
            <a:r>
              <a:rPr lang="en-US" sz="1500" b="1" dirty="0"/>
              <a:t>.</a:t>
            </a:r>
          </a:p>
          <a:p>
            <a:pPr marL="882650" lvl="1" indent="-285750">
              <a:buSzPts val="1400"/>
              <a:buFont typeface="Wingdings" panose="05000000000000000000" pitchFamily="2" charset="2"/>
              <a:buChar char="Ø"/>
            </a:pPr>
            <a:r>
              <a:rPr lang="en-US" sz="1500" dirty="0"/>
              <a:t>Tasks include setting up the Git repository, defining commit and branching guidelines, 	tracking branches and commits for each feature, and cleaning up the repository weekly.</a:t>
            </a:r>
          </a:p>
          <a:p>
            <a:pPr marL="425450" indent="-285750">
              <a:buSzPts val="1400"/>
            </a:pPr>
            <a:r>
              <a:rPr lang="en-US" sz="1500" b="1" dirty="0"/>
              <a:t>Continuous Integration (CI) Pipeline for Automated Testing and Deployment: Vijayalakshmi </a:t>
            </a:r>
            <a:r>
              <a:rPr lang="en-US" sz="1500" b="1" dirty="0" err="1"/>
              <a:t>Pepala</a:t>
            </a:r>
            <a:r>
              <a:rPr lang="en-US" sz="1500" b="1" dirty="0"/>
              <a:t>.</a:t>
            </a:r>
          </a:p>
          <a:p>
            <a:pPr marL="882650" lvl="1" indent="-285750">
              <a:buSzPts val="1400"/>
              <a:buFont typeface="Wingdings" panose="05000000000000000000" pitchFamily="2" charset="2"/>
              <a:buChar char="Ø"/>
            </a:pPr>
            <a:r>
              <a:rPr lang="en-US" sz="1500" dirty="0"/>
              <a:t>Tasks include setting up the CI/CD pipeline, adding automated test cases, monitoring 	pipeline issues, and updating CI/CD configurations as needed.</a:t>
            </a: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654735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07337DD5-0AC5-F1A6-4E1C-256923F3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86E2B891-FBBC-3FE8-D42D-E5E43F2974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References</a:t>
            </a:r>
          </a:p>
        </p:txBody>
      </p:sp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48232A91-A814-8702-62E7-24ECD0D4DB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Shu, K., et al. (2017). Fake News Detection on Social Media: A Data Mining Perspective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Devlin, J., et al. (2019). BERT: Pre-training of Deep Bidirectional Transformers for Language Understanding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Yang, Y., et al. (2018). TI-CNN: Convolutional Neural Networks for Fake News Detection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/>
              <a:t>Scikit-learn: Machine Learning in Python, </a:t>
            </a:r>
            <a:r>
              <a:rPr lang="en-US" sz="1800" dirty="0" err="1"/>
              <a:t>Pedregosa</a:t>
            </a:r>
            <a:r>
              <a:rPr lang="en-US" sz="1800" dirty="0"/>
              <a:t> et al., JMLR 12, pp. 2825-2830, 2011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Char char="●"/>
            </a:pPr>
            <a:r>
              <a:rPr lang="en-US" sz="1800" dirty="0" err="1"/>
              <a:t>Mikolov</a:t>
            </a:r>
            <a:r>
              <a:rPr lang="en-US" sz="1800" dirty="0"/>
              <a:t>, T., et al. (2013). Efficient Estimation of Word Representations in Vector Space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506839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3"/>
          <p:cNvSpPr txBox="1">
            <a:spLocks noGrp="1"/>
          </p:cNvSpPr>
          <p:nvPr>
            <p:ph type="title"/>
          </p:nvPr>
        </p:nvSpPr>
        <p:spPr>
          <a:xfrm>
            <a:off x="1644450" y="1732547"/>
            <a:ext cx="5855100" cy="15560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ighlight>
                  <a:srgbClr val="FFFF00"/>
                </a:highlight>
              </a:rPr>
              <a:t>QUESTIONS??</a:t>
            </a:r>
            <a:br>
              <a:rPr lang="en" dirty="0"/>
            </a:br>
            <a:r>
              <a:rPr lang="en" dirty="0"/>
              <a:t>THANK YOU!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1100</Words>
  <Application>Microsoft Office PowerPoint</Application>
  <PresentationFormat>On-screen Show (16:9)</PresentationFormat>
  <Paragraphs>100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Wingdings</vt:lpstr>
      <vt:lpstr>Hanken Grotesk</vt:lpstr>
      <vt:lpstr>Arial</vt:lpstr>
      <vt:lpstr>Figtree Black</vt:lpstr>
      <vt:lpstr>Elegant Black &amp; White Thesis Defense by Slidesgo</vt:lpstr>
      <vt:lpstr>Fake News Detection Using Machine Learning Algorithms</vt:lpstr>
      <vt:lpstr>Team Member</vt:lpstr>
      <vt:lpstr>Introduction</vt:lpstr>
      <vt:lpstr>Introduction (Cont.)</vt:lpstr>
      <vt:lpstr>—Problem Statement</vt:lpstr>
      <vt:lpstr>Methodology - Proposed Solutions</vt:lpstr>
      <vt:lpstr>Methodology - Workflow</vt:lpstr>
      <vt:lpstr>Dataset Description</vt:lpstr>
      <vt:lpstr>Data Analysis Results</vt:lpstr>
      <vt:lpstr>Data Analysis Results - Visualization</vt:lpstr>
      <vt:lpstr>Implementation Details</vt:lpstr>
      <vt:lpstr>Results and Evaluation</vt:lpstr>
      <vt:lpstr>Results and Evaluation - Visualization</vt:lpstr>
      <vt:lpstr>Project Management</vt:lpstr>
      <vt:lpstr>References</vt:lpstr>
      <vt:lpstr>QUESTIONS?? 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George Oyosa</dc:creator>
  <cp:lastModifiedBy>JASWANTH</cp:lastModifiedBy>
  <cp:revision>4</cp:revision>
  <dcterms:modified xsi:type="dcterms:W3CDTF">2024-11-08T23:19:25Z</dcterms:modified>
</cp:coreProperties>
</file>